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10"/>
  </p:normalViewPr>
  <p:slideViewPr>
    <p:cSldViewPr snapToGrid="0" snapToObjects="1">
      <p:cViewPr varScale="1">
        <p:scale>
          <a:sx n="78" d="100"/>
          <a:sy n="78" d="100"/>
        </p:scale>
        <p:origin x="96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100" b="1" i="0" u="none" strike="noStrike">
                <a:solidFill>
                  <a:srgbClr val="1F3864"/>
                </a:solidFill>
                <a:latin typeface="Arial"/>
              </a:defRPr>
            </a:pPr>
            <a:r>
              <a:rPr lang="en-IN" sz="1100" b="1" i="0" u="none" strike="noStrike">
                <a:solidFill>
                  <a:srgbClr val="1F3864"/>
                </a:solidFill>
                <a:latin typeface="Arial"/>
              </a:rPr>
              <a:t>Real GDP Growth (%)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Real GDP Growth (%)</c:v>
                </c:pt>
              </c:strCache>
            </c:strRef>
          </c:tx>
          <c:spPr>
            <a:ln w="31750" cap="flat">
              <a:solidFill>
                <a:srgbClr val="1F3864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F3864"/>
              </a:solidFill>
              <a:ln w="9525" cap="flat">
                <a:solidFill>
                  <a:srgbClr val="1F3864"/>
                </a:solidFill>
                <a:prstDash val="solid"/>
                <a:round/>
              </a:ln>
              <a:effectLst/>
            </c:spPr>
          </c:marker>
          <c:cat>
            <c:strRef>
              <c:f>Sheet1!$A$2:$A$24</c:f>
              <c:strCache>
                <c:ptCount val="23"/>
                <c:pt idx="0">
                  <c:v>2000</c:v>
                </c:pt>
                <c:pt idx="1">
                  <c:v>2001</c:v>
                </c:pt>
                <c:pt idx="2">
                  <c:v>2002</c:v>
                </c:pt>
                <c:pt idx="3">
                  <c:v>2003</c:v>
                </c:pt>
                <c:pt idx="4">
                  <c:v>2004</c:v>
                </c:pt>
                <c:pt idx="5">
                  <c:v>2005</c:v>
                </c:pt>
                <c:pt idx="6">
                  <c:v>2006</c:v>
                </c:pt>
                <c:pt idx="7">
                  <c:v>2007</c:v>
                </c:pt>
                <c:pt idx="8">
                  <c:v>2008</c:v>
                </c:pt>
                <c:pt idx="9">
                  <c:v>2009</c:v>
                </c:pt>
                <c:pt idx="10">
                  <c:v>2010</c:v>
                </c:pt>
                <c:pt idx="11">
                  <c:v>2011</c:v>
                </c:pt>
                <c:pt idx="12">
                  <c:v>2012</c:v>
                </c:pt>
                <c:pt idx="13">
                  <c:v>2013</c:v>
                </c:pt>
                <c:pt idx="14">
                  <c:v>2014</c:v>
                </c:pt>
                <c:pt idx="15">
                  <c:v>2015</c:v>
                </c:pt>
                <c:pt idx="16">
                  <c:v>2016</c:v>
                </c:pt>
                <c:pt idx="17">
                  <c:v>2017</c:v>
                </c:pt>
                <c:pt idx="18">
                  <c:v>2018</c:v>
                </c:pt>
                <c:pt idx="19">
                  <c:v>2019</c:v>
                </c:pt>
                <c:pt idx="20">
                  <c:v>2020</c:v>
                </c:pt>
                <c:pt idx="21">
                  <c:v>2021</c:v>
                </c:pt>
                <c:pt idx="22">
                  <c:v>2022</c:v>
                </c:pt>
              </c:strCache>
            </c:strRef>
          </c:cat>
          <c:val>
            <c:numRef>
              <c:f>Sheet1!$B$2:$B$24</c:f>
              <c:numCache>
                <c:formatCode>General</c:formatCode>
                <c:ptCount val="23"/>
                <c:pt idx="0">
                  <c:v>4</c:v>
                </c:pt>
                <c:pt idx="1">
                  <c:v>4.8</c:v>
                </c:pt>
                <c:pt idx="2">
                  <c:v>3.9</c:v>
                </c:pt>
                <c:pt idx="3">
                  <c:v>7.9</c:v>
                </c:pt>
                <c:pt idx="4">
                  <c:v>7.9</c:v>
                </c:pt>
                <c:pt idx="5">
                  <c:v>9.3000000000000007</c:v>
                </c:pt>
                <c:pt idx="6">
                  <c:v>9.3000000000000007</c:v>
                </c:pt>
                <c:pt idx="7">
                  <c:v>9.8000000000000007</c:v>
                </c:pt>
                <c:pt idx="8">
                  <c:v>3.9</c:v>
                </c:pt>
                <c:pt idx="9">
                  <c:v>8.5</c:v>
                </c:pt>
                <c:pt idx="10">
                  <c:v>10.3</c:v>
                </c:pt>
                <c:pt idx="11">
                  <c:v>6.6</c:v>
                </c:pt>
                <c:pt idx="12">
                  <c:v>5.5</c:v>
                </c:pt>
                <c:pt idx="13">
                  <c:v>6.4</c:v>
                </c:pt>
                <c:pt idx="14">
                  <c:v>7.4</c:v>
                </c:pt>
                <c:pt idx="15">
                  <c:v>8</c:v>
                </c:pt>
                <c:pt idx="16">
                  <c:v>8.3000000000000007</c:v>
                </c:pt>
                <c:pt idx="17">
                  <c:v>6.8</c:v>
                </c:pt>
                <c:pt idx="18">
                  <c:v>6.5</c:v>
                </c:pt>
                <c:pt idx="19">
                  <c:v>3.7</c:v>
                </c:pt>
                <c:pt idx="20">
                  <c:v>-6.6</c:v>
                </c:pt>
                <c:pt idx="21">
                  <c:v>8.6999999999999993</c:v>
                </c:pt>
                <c:pt idx="22">
                  <c:v>7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275C-4D6D-A6CA-BDF32BEFCA7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tickLblSkip val="3"/>
        <c:noMultiLvlLbl val="1"/>
      </c:catAx>
      <c:valAx>
        <c:axId val="2094734552"/>
        <c:scaling>
          <c:orientation val="minMax"/>
          <c:max val="14"/>
          <c:min val="-1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100" b="1" i="0" u="none" strike="noStrike">
                <a:solidFill>
                  <a:srgbClr val="1F3864"/>
                </a:solidFill>
                <a:latin typeface="Arial"/>
              </a:defRPr>
            </a:pPr>
            <a:r>
              <a:rPr lang="en-IN" sz="1100" b="1" i="0" u="none" strike="noStrike">
                <a:solidFill>
                  <a:srgbClr val="1F3864"/>
                </a:solidFill>
                <a:latin typeface="Arial"/>
              </a:rPr>
              <a:t>Subsidies (% of GDP)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Subsidies (% of GDP)</c:v>
                </c:pt>
              </c:strCache>
            </c:strRef>
          </c:tx>
          <c:spPr>
            <a:ln w="31750" cap="flat">
              <a:solidFill>
                <a:srgbClr val="E67E22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67E22"/>
              </a:solidFill>
              <a:ln w="9525" cap="flat">
                <a:solidFill>
                  <a:srgbClr val="E67E22"/>
                </a:solidFill>
                <a:prstDash val="solid"/>
                <a:round/>
              </a:ln>
              <a:effectLst/>
            </c:spPr>
          </c:marker>
          <c:cat>
            <c:strRef>
              <c:f>Sheet1!$A$2:$A$24</c:f>
              <c:strCache>
                <c:ptCount val="23"/>
                <c:pt idx="0">
                  <c:v>2000</c:v>
                </c:pt>
                <c:pt idx="1">
                  <c:v>2001</c:v>
                </c:pt>
                <c:pt idx="2">
                  <c:v>2002</c:v>
                </c:pt>
                <c:pt idx="3">
                  <c:v>2003</c:v>
                </c:pt>
                <c:pt idx="4">
                  <c:v>2004</c:v>
                </c:pt>
                <c:pt idx="5">
                  <c:v>2005</c:v>
                </c:pt>
                <c:pt idx="6">
                  <c:v>2006</c:v>
                </c:pt>
                <c:pt idx="7">
                  <c:v>2007</c:v>
                </c:pt>
                <c:pt idx="8">
                  <c:v>2008</c:v>
                </c:pt>
                <c:pt idx="9">
                  <c:v>2009</c:v>
                </c:pt>
                <c:pt idx="10">
                  <c:v>2010</c:v>
                </c:pt>
                <c:pt idx="11">
                  <c:v>2011</c:v>
                </c:pt>
                <c:pt idx="12">
                  <c:v>2012</c:v>
                </c:pt>
                <c:pt idx="13">
                  <c:v>2013</c:v>
                </c:pt>
                <c:pt idx="14">
                  <c:v>2014</c:v>
                </c:pt>
                <c:pt idx="15">
                  <c:v>2015</c:v>
                </c:pt>
                <c:pt idx="16">
                  <c:v>2016</c:v>
                </c:pt>
                <c:pt idx="17">
                  <c:v>2017</c:v>
                </c:pt>
                <c:pt idx="18">
                  <c:v>2018</c:v>
                </c:pt>
                <c:pt idx="19">
                  <c:v>2019</c:v>
                </c:pt>
                <c:pt idx="20">
                  <c:v>2020</c:v>
                </c:pt>
                <c:pt idx="21">
                  <c:v>2021</c:v>
                </c:pt>
                <c:pt idx="22">
                  <c:v>2022</c:v>
                </c:pt>
              </c:strCache>
            </c:strRef>
          </c:cat>
          <c:val>
            <c:numRef>
              <c:f>Sheet1!$B$2:$B$24</c:f>
              <c:numCache>
                <c:formatCode>General</c:formatCode>
                <c:ptCount val="23"/>
                <c:pt idx="0">
                  <c:v>1.43</c:v>
                </c:pt>
                <c:pt idx="1">
                  <c:v>1.52</c:v>
                </c:pt>
                <c:pt idx="2">
                  <c:v>1.48</c:v>
                </c:pt>
                <c:pt idx="3">
                  <c:v>1.55</c:v>
                </c:pt>
                <c:pt idx="4">
                  <c:v>1.61</c:v>
                </c:pt>
                <c:pt idx="5">
                  <c:v>1.72</c:v>
                </c:pt>
                <c:pt idx="6">
                  <c:v>1.83</c:v>
                </c:pt>
                <c:pt idx="7">
                  <c:v>1.9</c:v>
                </c:pt>
                <c:pt idx="8">
                  <c:v>2.31</c:v>
                </c:pt>
                <c:pt idx="9">
                  <c:v>2.65</c:v>
                </c:pt>
                <c:pt idx="10">
                  <c:v>2.12</c:v>
                </c:pt>
                <c:pt idx="11">
                  <c:v>2.34</c:v>
                </c:pt>
                <c:pt idx="12">
                  <c:v>2.57</c:v>
                </c:pt>
                <c:pt idx="13">
                  <c:v>2.2999999999999998</c:v>
                </c:pt>
                <c:pt idx="14">
                  <c:v>2.0699999999999998</c:v>
                </c:pt>
                <c:pt idx="15">
                  <c:v>1.72</c:v>
                </c:pt>
                <c:pt idx="16">
                  <c:v>1.63</c:v>
                </c:pt>
                <c:pt idx="17">
                  <c:v>1.59</c:v>
                </c:pt>
                <c:pt idx="18">
                  <c:v>1.55</c:v>
                </c:pt>
                <c:pt idx="19">
                  <c:v>1.68</c:v>
                </c:pt>
                <c:pt idx="20">
                  <c:v>2.85</c:v>
                </c:pt>
                <c:pt idx="21">
                  <c:v>2.41</c:v>
                </c:pt>
                <c:pt idx="22">
                  <c:v>1.95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24DA-4E37-BE49-56B3C6DCD15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tickLblSkip val="3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159864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0"/>
            <a:ext cx="109728" cy="514350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823960" y="0"/>
            <a:ext cx="320040" cy="51435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0" y="548640"/>
            <a:ext cx="2377440" cy="2377440"/>
          </a:xfrm>
          <a:prstGeom prst="ellipse">
            <a:avLst/>
          </a:prstGeom>
          <a:solidFill>
            <a:srgbClr val="2E75B6">
              <a:alpha val="25000"/>
            </a:srgbClr>
          </a:solidFill>
          <a:ln w="12700">
            <a:solidFill>
              <a:srgbClr val="2E75B6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949440" y="914400"/>
            <a:ext cx="1645920" cy="1645920"/>
          </a:xfrm>
          <a:prstGeom prst="ellipse">
            <a:avLst/>
          </a:prstGeom>
          <a:solidFill>
            <a:srgbClr val="E67E22">
              <a:alpha val="20000"/>
            </a:srgbClr>
          </a:solidFill>
          <a:ln w="12700">
            <a:solidFill>
              <a:srgbClr val="E67E22">
                <a:alpha val="40000"/>
              </a:srgbClr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6903720" y="777240"/>
            <a:ext cx="1737360" cy="17373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64008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kern="0" spc="50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</a:t>
            </a:r>
            <a:r>
              <a:rPr lang="en-US" sz="1100" b="1" kern="0" spc="50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200" b="1" kern="0" spc="50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548640" y="1024128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the 21st Century</a:t>
            </a:r>
            <a:endParaRPr lang="en-US" sz="3600" dirty="0"/>
          </a:p>
        </p:txBody>
      </p:sp>
      <p:sp>
        <p:nvSpPr>
          <p:cNvPr id="10" name="Text 7"/>
          <p:cNvSpPr/>
          <p:nvPr/>
        </p:nvSpPr>
        <p:spPr>
          <a:xfrm>
            <a:off x="548640" y="1664208"/>
            <a:ext cx="6217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Industrial Subsidies Drive Economic Growth in India?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548640" y="2359152"/>
            <a:ext cx="5029200" cy="36576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8640" y="2487168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</a:t>
            </a:r>
            <a:r>
              <a:rPr lang="en-US" sz="11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2000 – 2022  </a:t>
            </a: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| </a:t>
            </a:r>
            <a:r>
              <a:rPr lang="en-US" sz="11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4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</a:t>
            </a:r>
            <a:r>
              <a:rPr lang="en-US" sz="11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 </a:t>
            </a: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| </a:t>
            </a:r>
            <a:r>
              <a:rPr lang="en-US" sz="11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4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r>
              <a:rPr lang="en-US" sz="11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Bank WDI · RBI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F9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Time-Series Analysis  |</a:t>
            </a:r>
            <a:r>
              <a:rPr lang="en-US" sz="1000" i="1" dirty="0">
                <a:solidFill>
                  <a:srgbClr val="7F9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i="1" dirty="0">
                <a:solidFill>
                  <a:srgbClr val="7F9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India  |  n = 23 Annual Observations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48640" y="4480560"/>
            <a:ext cx="1463040" cy="329184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48640" y="4480560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2240280" y="4480560"/>
            <a:ext cx="1463040" cy="329184"/>
          </a:xfrm>
          <a:prstGeom prst="rect">
            <a:avLst/>
          </a:prstGeom>
          <a:solidFill>
            <a:srgbClr val="1A7A8A"/>
          </a:solidFill>
          <a:ln w="12700">
            <a:solidFill>
              <a:srgbClr val="1A7A8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240280" y="4480560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3931920" y="4480560"/>
            <a:ext cx="1463040" cy="329184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931920" y="4480560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5623560" y="4480560"/>
            <a:ext cx="1463040" cy="329184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623560" y="4480560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2926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0" tIns="10160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 FRAMEWORK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11480" y="530352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38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 Question &amp; Hypothesis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" y="1143000"/>
            <a:ext cx="8321040" cy="120700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143000"/>
            <a:ext cx="128016" cy="120700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20700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21792" y="1463040"/>
            <a:ext cx="795528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an increase in government industrial subsidies (% of GDP) lead to higher economic growth (real GDP growth rate) in India over the period 2000–2022?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411480" y="2542032"/>
            <a:ext cx="3977640" cy="1371600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11480" y="2542032"/>
            <a:ext cx="91440" cy="1371600"/>
          </a:xfrm>
          <a:prstGeom prst="rect">
            <a:avLst/>
          </a:prstGeom>
          <a:solidFill>
            <a:srgbClr val="595959"/>
          </a:solidFill>
          <a:ln w="12700">
            <a:solidFill>
              <a:srgbClr val="59595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59689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H₀  NULL HYPOTHESIS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4360" y="2871216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subsidies have NO significant effect on GDP growth — any observed relationship is due to chance.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54880" y="2542032"/>
            <a:ext cx="3977640" cy="1371600"/>
          </a:xfrm>
          <a:prstGeom prst="rect">
            <a:avLst/>
          </a:prstGeom>
          <a:solidFill>
            <a:srgbClr val="D6E4F0"/>
          </a:solidFill>
          <a:ln w="12700">
            <a:solidFill>
              <a:srgbClr val="2E75B6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2542032"/>
            <a:ext cx="91440" cy="13716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259689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H₁  ALTERNATIVE HYPOTHESIS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37760" y="2871216"/>
            <a:ext cx="36118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industrial subsidies (% GDP) are POSITIVELY associated with higher real GDP growth — subsidies act as a growth catalyst.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11480" y="4160520"/>
            <a:ext cx="8321040" cy="658368"/>
          </a:xfrm>
          <a:prstGeom prst="rect">
            <a:avLst/>
          </a:prstGeom>
          <a:solidFill>
            <a:srgbClr val="FEF9E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Justification: India's industrial subsidies expanded significantly post-2000 under UPA/NDA governments. Testing their macroeconomic impact is central to evaluating 21C industrial policy design.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2926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0" tIns="10160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 &amp;  METHODOLOGY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11480" y="530352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38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Variables, Data Sources &amp; Methods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" y="1115568"/>
            <a:ext cx="4114800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11556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11480" y="1572768"/>
            <a:ext cx="4114800" cy="420624"/>
          </a:xfrm>
          <a:prstGeom prst="rect">
            <a:avLst/>
          </a:prstGeom>
          <a:solidFill>
            <a:srgbClr val="2E75B6">
              <a:alpha val="12000"/>
            </a:srgbClr>
          </a:solidFill>
          <a:ln w="12700">
            <a:solidFill>
              <a:srgbClr val="2E75B6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572768"/>
            <a:ext cx="91440" cy="420624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581912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1773936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GDP Growth (%)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" y="2075688"/>
            <a:ext cx="4114800" cy="420624"/>
          </a:xfrm>
          <a:prstGeom prst="rect">
            <a:avLst/>
          </a:prstGeom>
          <a:solidFill>
            <a:srgbClr val="E67E22">
              <a:alpha val="12000"/>
            </a:srgbClr>
          </a:solidFill>
          <a:ln w="12700">
            <a:solidFill>
              <a:srgbClr val="E67E22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" y="2075688"/>
            <a:ext cx="91440" cy="420624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084832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#1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4360" y="2276856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Subsidies (% of GDP)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11480" y="2578608"/>
            <a:ext cx="4114800" cy="420624"/>
          </a:xfrm>
          <a:prstGeom prst="rect">
            <a:avLst/>
          </a:prstGeom>
          <a:solidFill>
            <a:srgbClr val="1A7A8A">
              <a:alpha val="12000"/>
            </a:srgbClr>
          </a:solidFill>
          <a:ln w="12700">
            <a:solidFill>
              <a:srgbClr val="1A7A8A">
                <a:alpha val="4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" y="2578608"/>
            <a:ext cx="91440" cy="420624"/>
          </a:xfrm>
          <a:prstGeom prst="rect">
            <a:avLst/>
          </a:prstGeom>
          <a:solidFill>
            <a:srgbClr val="1A7A8A"/>
          </a:solidFill>
          <a:ln w="12700">
            <a:solidFill>
              <a:srgbClr val="1A7A8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2587752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#2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94360" y="2779776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Capital Formation (% GDP)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11480" y="3081528"/>
            <a:ext cx="4114800" cy="420624"/>
          </a:xfrm>
          <a:prstGeom prst="rect">
            <a:avLst/>
          </a:prstGeom>
          <a:solidFill>
            <a:srgbClr val="27AE60">
              <a:alpha val="12000"/>
            </a:srgbClr>
          </a:solidFill>
          <a:ln w="12700">
            <a:solidFill>
              <a:srgbClr val="27AE60">
                <a:alpha val="4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1480" y="3081528"/>
            <a:ext cx="91440" cy="420624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3090672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#3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94360" y="3282696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Openness (% GDP)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11480" y="3584448"/>
            <a:ext cx="4114800" cy="420624"/>
          </a:xfrm>
          <a:prstGeom prst="rect">
            <a:avLst/>
          </a:prstGeom>
          <a:solidFill>
            <a:srgbClr val="595959">
              <a:alpha val="12000"/>
            </a:srgbClr>
          </a:solidFill>
          <a:ln w="12700">
            <a:solidFill>
              <a:srgbClr val="595959">
                <a:alpha val="4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11480" y="3584448"/>
            <a:ext cx="91440" cy="420624"/>
          </a:xfrm>
          <a:prstGeom prst="rect">
            <a:avLst/>
          </a:prstGeom>
          <a:solidFill>
            <a:srgbClr val="595959"/>
          </a:solidFill>
          <a:ln w="12700">
            <a:solidFill>
              <a:srgbClr val="59595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3593592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94360" y="3785616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Fiscal Deficit (% GDP)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800600" y="1115568"/>
            <a:ext cx="3931920" cy="34747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92040" y="111556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METHODS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00600" y="1572768"/>
            <a:ext cx="3931920" cy="658368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00600" y="1572768"/>
            <a:ext cx="384048" cy="65836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00600" y="1572768"/>
            <a:ext cx="38404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257800" y="1627632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Statistics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257800" y="1901952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Mean, median, std dev, min/max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800600" y="2322576"/>
            <a:ext cx="3931920" cy="658368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800600" y="2322576"/>
            <a:ext cx="384048" cy="65836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00600" y="2322576"/>
            <a:ext cx="38404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257800" y="237744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Analysis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257800" y="265176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correlation matrix (6×6)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800600" y="3072384"/>
            <a:ext cx="3931920" cy="658368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800600" y="3072384"/>
            <a:ext cx="384048" cy="65836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00600" y="3072384"/>
            <a:ext cx="38404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5257800" y="312724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OLS Regression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257800" y="340156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independent variables, n=23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800600" y="3822192"/>
            <a:ext cx="3931920" cy="658368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800600" y="3822192"/>
            <a:ext cx="384048" cy="65836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00600" y="3822192"/>
            <a:ext cx="38404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5257800" y="3877056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Visualisation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5257800" y="4151376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charts: GDP growth &amp; subsidies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11480" y="4736592"/>
            <a:ext cx="8321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World Bank WDI · Reserve Bank of India Handbook · India Union Budget Documents  |  Period: 2000–2022  |  n = 23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2926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0" tIns="10160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 STATISTICS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11480" y="530352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38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Data Snapshot  |  India 2000–2022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" y="1143000"/>
            <a:ext cx="1920240" cy="117043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216152"/>
            <a:ext cx="1920240" cy="6086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6.5%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11480" y="1751625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GDP Growth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11480" y="2009120"/>
            <a:ext cx="1920240" cy="304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23-year mean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468880" y="1143000"/>
            <a:ext cx="1920240" cy="117043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68880" y="1216152"/>
            <a:ext cx="1920240" cy="6086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1.95%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2468880" y="1751625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Subsidies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468880" y="2009120"/>
            <a:ext cx="1920240" cy="304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GDP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26280" y="1143000"/>
            <a:ext cx="1920240" cy="1170432"/>
          </a:xfrm>
          <a:prstGeom prst="rect">
            <a:avLst/>
          </a:prstGeom>
          <a:solidFill>
            <a:srgbClr val="1A7A8A"/>
          </a:solidFill>
          <a:ln w="12700">
            <a:solidFill>
              <a:srgbClr val="1A7A8A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26280" y="1216152"/>
            <a:ext cx="1920240" cy="6086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31.0%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4526280" y="1751625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GCF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26280" y="2009120"/>
            <a:ext cx="1920240" cy="304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GDP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583680" y="1143000"/>
            <a:ext cx="2148840" cy="117043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583680" y="1216152"/>
            <a:ext cx="2148840" cy="6086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44.0%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6583680" y="1751625"/>
            <a:ext cx="214884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Trade Open.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583680" y="2009120"/>
            <a:ext cx="2148840" cy="304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GDP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11480" y="2450592"/>
            <a:ext cx="1920240" cy="100584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11480" y="2523744"/>
            <a:ext cx="1920240" cy="5230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10.3%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411480" y="2973629"/>
            <a:ext cx="1920240" cy="2514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Growth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11480" y="3194914"/>
            <a:ext cx="1920240" cy="2615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2010 post-GFC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468880" y="2450592"/>
            <a:ext cx="1920240" cy="10058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2468880" y="2523744"/>
            <a:ext cx="1920240" cy="5230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–6.6%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2468880" y="2973629"/>
            <a:ext cx="1920240" cy="2514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Growth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468880" y="3194914"/>
            <a:ext cx="1920240" cy="2615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 COVID-19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26280" y="2450592"/>
            <a:ext cx="1920240" cy="10058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526280" y="2523744"/>
            <a:ext cx="1920240" cy="5230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2.85%</a:t>
            </a:r>
            <a:endParaRPr lang="en-US" sz="3000" dirty="0"/>
          </a:p>
        </p:txBody>
      </p:sp>
      <p:sp>
        <p:nvSpPr>
          <p:cNvPr id="30" name="Text 28"/>
          <p:cNvSpPr/>
          <p:nvPr/>
        </p:nvSpPr>
        <p:spPr>
          <a:xfrm>
            <a:off x="4526280" y="2973629"/>
            <a:ext cx="1920240" cy="2514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Subsidies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526280" y="3194914"/>
            <a:ext cx="1920240" cy="2615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 crisis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583680" y="2446020"/>
            <a:ext cx="2148840" cy="1005840"/>
          </a:xfrm>
          <a:prstGeom prst="rect">
            <a:avLst/>
          </a:prstGeom>
          <a:solidFill>
            <a:srgbClr val="595959"/>
          </a:solidFill>
          <a:ln w="12700">
            <a:solidFill>
              <a:srgbClr val="595959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583680" y="2523744"/>
            <a:ext cx="2148840" cy="5230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3.6pp</a:t>
            </a:r>
            <a:endParaRPr lang="en-US" sz="3000" dirty="0"/>
          </a:p>
        </p:txBody>
      </p:sp>
      <p:sp>
        <p:nvSpPr>
          <p:cNvPr id="34" name="Text 32"/>
          <p:cNvSpPr/>
          <p:nvPr/>
        </p:nvSpPr>
        <p:spPr>
          <a:xfrm>
            <a:off x="6583680" y="2973629"/>
            <a:ext cx="2148840" cy="2514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 Dev GDP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583680" y="3194914"/>
            <a:ext cx="2148840" cy="2615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volatility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11480" y="3611880"/>
            <a:ext cx="8321040" cy="1234440"/>
          </a:xfrm>
          <a:prstGeom prst="rect">
            <a:avLst/>
          </a:prstGeom>
          <a:solidFill>
            <a:srgbClr val="D6E4F0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11480" y="3611880"/>
            <a:ext cx="109728" cy="123444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1792" y="3666744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21792" y="3931920"/>
            <a:ext cx="79552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Subsidies spiked sharply in 2008–09 (GFC) and 2020 (COVID-19) — exactly when GDP growth fell. This suggests a COUNTER-CYCLICAL pattern: India deploys subsidies as a crisis-response tool, not proactively. This is crucial for interpreting regression results.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2926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0" tIns="10160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 ANALYSIS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11480" y="530352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38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GDP Growth &amp; Subsidies Trends  |  India 2000–2022</a:t>
            </a:r>
            <a:endParaRPr lang="en-US" sz="2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11480" y="1097280"/>
          <a:ext cx="416052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4617720" y="1097280"/>
          <a:ext cx="416052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Shape 2"/>
          <p:cNvSpPr/>
          <p:nvPr/>
        </p:nvSpPr>
        <p:spPr>
          <a:xfrm>
            <a:off x="411480" y="3822192"/>
            <a:ext cx="4160520" cy="822960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502920" y="3858768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Notable: </a:t>
            </a: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COVID-19 crash (2020: –6.6%) and post-crisis recovery (2021: +8.7%). GFC 2008 caused a dip to 3.9% before rebounding.</a:t>
            </a:r>
            <a:endParaRPr lang="en-US" sz="1100" dirty="0"/>
          </a:p>
        </p:txBody>
      </p:sp>
      <p:sp>
        <p:nvSpPr>
          <p:cNvPr id="8" name="Shape 4"/>
          <p:cNvSpPr/>
          <p:nvPr/>
        </p:nvSpPr>
        <p:spPr>
          <a:xfrm>
            <a:off x="4617720" y="3822192"/>
            <a:ext cx="4160520" cy="822960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4709160" y="3858768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Notable: </a:t>
            </a: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Subsidies peaked at 2.85% GDP in 2020 (COVID) and 2.65% in 2009 (GFC) — confirming counter-cyclical spending.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2926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0" tIns="10160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 ANALYSIS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11480" y="530352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38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Pearson Correlation Matrix  |  Key Relationships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" y="1143000"/>
            <a:ext cx="1417320" cy="47548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0" y="1143000"/>
            <a:ext cx="1188720" cy="47548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0" y="1143000"/>
            <a:ext cx="1188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 Growth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017520" y="1143000"/>
            <a:ext cx="1188720" cy="47548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17520" y="1143000"/>
            <a:ext cx="1188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Subsidies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206240" y="1143000"/>
            <a:ext cx="1188720" cy="47548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06240" y="1143000"/>
            <a:ext cx="1188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GCF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394960" y="1143000"/>
            <a:ext cx="1188720" cy="47548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94960" y="1143000"/>
            <a:ext cx="1188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Open.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583680" y="1143000"/>
            <a:ext cx="1188720" cy="47548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0" y="1143000"/>
            <a:ext cx="1188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Fiscal Def.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772400" y="1143000"/>
            <a:ext cx="1188720" cy="47548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0" y="1143000"/>
            <a:ext cx="1188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Mfg VA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11480" y="1618488"/>
            <a:ext cx="1417320" cy="47548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1618488"/>
            <a:ext cx="1417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 Growth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1828800" y="1618488"/>
            <a:ext cx="1188720" cy="47548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828800" y="1618488"/>
            <a:ext cx="1188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017520" y="1618488"/>
            <a:ext cx="1188720" cy="475488"/>
          </a:xfrm>
          <a:prstGeom prst="rect">
            <a:avLst/>
          </a:prstGeom>
          <a:solidFill>
            <a:srgbClr val="E59866"/>
          </a:solidFill>
          <a:ln w="12700">
            <a:solidFill>
              <a:srgbClr val="E5986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017520" y="1618488"/>
            <a:ext cx="1188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-0.47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206240" y="1618488"/>
            <a:ext cx="1188720" cy="47548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06240" y="1618488"/>
            <a:ext cx="1188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0.42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394960" y="1618488"/>
            <a:ext cx="1188720" cy="47548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94960" y="1618488"/>
            <a:ext cx="1188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0.35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583680" y="1618488"/>
            <a:ext cx="1188720" cy="47548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83680" y="1618488"/>
            <a:ext cx="1188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-0.61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772400" y="1618488"/>
            <a:ext cx="1188720" cy="475488"/>
          </a:xfrm>
          <a:prstGeom prst="rect">
            <a:avLst/>
          </a:prstGeom>
          <a:solidFill>
            <a:srgbClr val="AED6F1"/>
          </a:solidFill>
          <a:ln w="12700">
            <a:solidFill>
              <a:srgbClr val="AED6F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1618488"/>
            <a:ext cx="1188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0.22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11480" y="2093976"/>
            <a:ext cx="1417320" cy="47548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1480" y="2093976"/>
            <a:ext cx="1417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Subsidies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1828800" y="2093976"/>
            <a:ext cx="1188720" cy="475488"/>
          </a:xfrm>
          <a:prstGeom prst="rect">
            <a:avLst/>
          </a:prstGeom>
          <a:solidFill>
            <a:srgbClr val="E59866"/>
          </a:solidFill>
          <a:ln w="12700">
            <a:solidFill>
              <a:srgbClr val="E5986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828800" y="2093976"/>
            <a:ext cx="1188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-0.47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017520" y="2093976"/>
            <a:ext cx="1188720" cy="47548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017520" y="2093976"/>
            <a:ext cx="1188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206240" y="2093976"/>
            <a:ext cx="1188720" cy="475488"/>
          </a:xfrm>
          <a:prstGeom prst="rect">
            <a:avLst/>
          </a:prstGeom>
          <a:solidFill>
            <a:srgbClr val="FAD7A0"/>
          </a:solidFill>
          <a:ln w="12700">
            <a:solidFill>
              <a:srgbClr val="FAD7A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206240" y="2093976"/>
            <a:ext cx="1188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-0.18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394960" y="2093976"/>
            <a:ext cx="1188720" cy="475488"/>
          </a:xfrm>
          <a:prstGeom prst="rect">
            <a:avLst/>
          </a:prstGeom>
          <a:solidFill>
            <a:srgbClr val="FAD7A0"/>
          </a:solidFill>
          <a:ln w="12700">
            <a:solidFill>
              <a:srgbClr val="FAD7A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394960" y="2093976"/>
            <a:ext cx="1188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-0.08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583680" y="2093976"/>
            <a:ext cx="1188720" cy="47548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583680" y="2093976"/>
            <a:ext cx="1188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0.78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7772400" y="2093976"/>
            <a:ext cx="1188720" cy="475488"/>
          </a:xfrm>
          <a:prstGeom prst="rect">
            <a:avLst/>
          </a:prstGeom>
          <a:solidFill>
            <a:srgbClr val="E59866"/>
          </a:solidFill>
          <a:ln w="12700">
            <a:solidFill>
              <a:srgbClr val="E5986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772400" y="2093976"/>
            <a:ext cx="1188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-0.44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11480" y="2569464"/>
            <a:ext cx="1417320" cy="47548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11480" y="2569464"/>
            <a:ext cx="1417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GCF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1828800" y="2569464"/>
            <a:ext cx="1188720" cy="47548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828800" y="2569464"/>
            <a:ext cx="1188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0.42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3017520" y="2569464"/>
            <a:ext cx="1188720" cy="475488"/>
          </a:xfrm>
          <a:prstGeom prst="rect">
            <a:avLst/>
          </a:prstGeom>
          <a:solidFill>
            <a:srgbClr val="FAD7A0"/>
          </a:solidFill>
          <a:ln w="12700">
            <a:solidFill>
              <a:srgbClr val="FAD7A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017520" y="2569464"/>
            <a:ext cx="1188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-0.18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4206240" y="2569464"/>
            <a:ext cx="1188720" cy="47548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206240" y="2569464"/>
            <a:ext cx="1188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5394960" y="2569464"/>
            <a:ext cx="1188720" cy="47548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394960" y="2569464"/>
            <a:ext cx="1188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0.72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6583680" y="2569464"/>
            <a:ext cx="1188720" cy="475488"/>
          </a:xfrm>
          <a:prstGeom prst="rect">
            <a:avLst/>
          </a:prstGeom>
          <a:solidFill>
            <a:srgbClr val="FAD7A0"/>
          </a:solidFill>
          <a:ln w="12700">
            <a:solidFill>
              <a:srgbClr val="FAD7A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583680" y="2569464"/>
            <a:ext cx="1188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-0.30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7772400" y="2569464"/>
            <a:ext cx="1188720" cy="475488"/>
          </a:xfrm>
          <a:prstGeom prst="rect">
            <a:avLst/>
          </a:prstGeom>
          <a:solidFill>
            <a:srgbClr val="AED6F1"/>
          </a:solidFill>
          <a:ln w="12700">
            <a:solidFill>
              <a:srgbClr val="AED6F1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772400" y="2569464"/>
            <a:ext cx="1188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0.15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411480" y="3044952"/>
            <a:ext cx="1417320" cy="47548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11480" y="3044952"/>
            <a:ext cx="1417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Open.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1828800" y="3044952"/>
            <a:ext cx="1188720" cy="47548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828800" y="3044952"/>
            <a:ext cx="1188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0.35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3017520" y="3044952"/>
            <a:ext cx="1188720" cy="475488"/>
          </a:xfrm>
          <a:prstGeom prst="rect">
            <a:avLst/>
          </a:prstGeom>
          <a:solidFill>
            <a:srgbClr val="FAD7A0"/>
          </a:solidFill>
          <a:ln w="12700">
            <a:solidFill>
              <a:srgbClr val="FAD7A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017520" y="3044952"/>
            <a:ext cx="1188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-0.08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4206240" y="3044952"/>
            <a:ext cx="1188720" cy="47548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206240" y="3044952"/>
            <a:ext cx="1188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0.72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5394960" y="3044952"/>
            <a:ext cx="1188720" cy="47548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394960" y="3044952"/>
            <a:ext cx="1188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6583680" y="3044952"/>
            <a:ext cx="1188720" cy="475488"/>
          </a:xfrm>
          <a:prstGeom prst="rect">
            <a:avLst/>
          </a:prstGeom>
          <a:solidFill>
            <a:srgbClr val="FAD7A0"/>
          </a:solidFill>
          <a:ln w="12700">
            <a:solidFill>
              <a:srgbClr val="FAD7A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583680" y="3044952"/>
            <a:ext cx="1188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-0.24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7772400" y="3044952"/>
            <a:ext cx="1188720" cy="475488"/>
          </a:xfrm>
          <a:prstGeom prst="rect">
            <a:avLst/>
          </a:prstGeom>
          <a:solidFill>
            <a:srgbClr val="AED6F1"/>
          </a:solidFill>
          <a:ln w="12700">
            <a:solidFill>
              <a:srgbClr val="AED6F1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7772400" y="3044952"/>
            <a:ext cx="1188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0.06</a:t>
            </a:r>
            <a:endParaRPr lang="en-US" sz="1100" dirty="0"/>
          </a:p>
        </p:txBody>
      </p:sp>
      <p:sp>
        <p:nvSpPr>
          <p:cNvPr id="73" name="Shape 71"/>
          <p:cNvSpPr/>
          <p:nvPr/>
        </p:nvSpPr>
        <p:spPr>
          <a:xfrm>
            <a:off x="411480" y="3520440"/>
            <a:ext cx="1417320" cy="47548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11480" y="3520440"/>
            <a:ext cx="1417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Fiscal Def.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1828800" y="3520440"/>
            <a:ext cx="1188720" cy="47548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1828800" y="3520440"/>
            <a:ext cx="1188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-0.61</a:t>
            </a:r>
            <a:endParaRPr lang="en-US" sz="1100" dirty="0"/>
          </a:p>
        </p:txBody>
      </p:sp>
      <p:sp>
        <p:nvSpPr>
          <p:cNvPr id="77" name="Shape 75"/>
          <p:cNvSpPr/>
          <p:nvPr/>
        </p:nvSpPr>
        <p:spPr>
          <a:xfrm>
            <a:off x="3017520" y="3520440"/>
            <a:ext cx="1188720" cy="47548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3017520" y="3520440"/>
            <a:ext cx="1188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0.78</a:t>
            </a:r>
            <a:endParaRPr lang="en-US" sz="1100" dirty="0"/>
          </a:p>
        </p:txBody>
      </p:sp>
      <p:sp>
        <p:nvSpPr>
          <p:cNvPr id="79" name="Shape 77"/>
          <p:cNvSpPr/>
          <p:nvPr/>
        </p:nvSpPr>
        <p:spPr>
          <a:xfrm>
            <a:off x="4206240" y="3520440"/>
            <a:ext cx="1188720" cy="475488"/>
          </a:xfrm>
          <a:prstGeom prst="rect">
            <a:avLst/>
          </a:prstGeom>
          <a:solidFill>
            <a:srgbClr val="FAD7A0"/>
          </a:solidFill>
          <a:ln w="12700">
            <a:solidFill>
              <a:srgbClr val="FAD7A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4206240" y="3520440"/>
            <a:ext cx="1188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-0.30</a:t>
            </a:r>
            <a:endParaRPr lang="en-US" sz="1100" dirty="0"/>
          </a:p>
        </p:txBody>
      </p:sp>
      <p:sp>
        <p:nvSpPr>
          <p:cNvPr id="81" name="Shape 79"/>
          <p:cNvSpPr/>
          <p:nvPr/>
        </p:nvSpPr>
        <p:spPr>
          <a:xfrm>
            <a:off x="5394960" y="3520440"/>
            <a:ext cx="1188720" cy="475488"/>
          </a:xfrm>
          <a:prstGeom prst="rect">
            <a:avLst/>
          </a:prstGeom>
          <a:solidFill>
            <a:srgbClr val="FAD7A0"/>
          </a:solidFill>
          <a:ln w="12700">
            <a:solidFill>
              <a:srgbClr val="FAD7A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5394960" y="3520440"/>
            <a:ext cx="1188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-0.24</a:t>
            </a:r>
            <a:endParaRPr lang="en-US" sz="1100" dirty="0"/>
          </a:p>
        </p:txBody>
      </p:sp>
      <p:sp>
        <p:nvSpPr>
          <p:cNvPr id="83" name="Shape 81"/>
          <p:cNvSpPr/>
          <p:nvPr/>
        </p:nvSpPr>
        <p:spPr>
          <a:xfrm>
            <a:off x="6583680" y="3520440"/>
            <a:ext cx="1188720" cy="47548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6583680" y="3520440"/>
            <a:ext cx="1188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1100" dirty="0"/>
          </a:p>
        </p:txBody>
      </p:sp>
      <p:sp>
        <p:nvSpPr>
          <p:cNvPr id="85" name="Shape 83"/>
          <p:cNvSpPr/>
          <p:nvPr/>
        </p:nvSpPr>
        <p:spPr>
          <a:xfrm>
            <a:off x="7772400" y="3520440"/>
            <a:ext cx="1188720" cy="475488"/>
          </a:xfrm>
          <a:prstGeom prst="rect">
            <a:avLst/>
          </a:prstGeom>
          <a:solidFill>
            <a:srgbClr val="E59866"/>
          </a:solidFill>
          <a:ln w="12700">
            <a:solidFill>
              <a:srgbClr val="E59866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7772400" y="3520440"/>
            <a:ext cx="1188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-0.38</a:t>
            </a:r>
            <a:endParaRPr lang="en-US" sz="1100" dirty="0"/>
          </a:p>
        </p:txBody>
      </p:sp>
      <p:sp>
        <p:nvSpPr>
          <p:cNvPr id="87" name="Shape 85"/>
          <p:cNvSpPr/>
          <p:nvPr/>
        </p:nvSpPr>
        <p:spPr>
          <a:xfrm>
            <a:off x="411480" y="3995928"/>
            <a:ext cx="1417320" cy="47548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411480" y="3995928"/>
            <a:ext cx="1417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Mfg VA</a:t>
            </a:r>
            <a:endParaRPr lang="en-US" sz="950" dirty="0"/>
          </a:p>
        </p:txBody>
      </p:sp>
      <p:sp>
        <p:nvSpPr>
          <p:cNvPr id="89" name="Shape 87"/>
          <p:cNvSpPr/>
          <p:nvPr/>
        </p:nvSpPr>
        <p:spPr>
          <a:xfrm>
            <a:off x="1828800" y="3995928"/>
            <a:ext cx="1188720" cy="475488"/>
          </a:xfrm>
          <a:prstGeom prst="rect">
            <a:avLst/>
          </a:prstGeom>
          <a:solidFill>
            <a:srgbClr val="AED6F1"/>
          </a:solidFill>
          <a:ln w="12700">
            <a:solidFill>
              <a:srgbClr val="AED6F1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1828800" y="3995928"/>
            <a:ext cx="1188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0.22</a:t>
            </a:r>
            <a:endParaRPr lang="en-US" sz="1100" dirty="0"/>
          </a:p>
        </p:txBody>
      </p:sp>
      <p:sp>
        <p:nvSpPr>
          <p:cNvPr id="91" name="Shape 89"/>
          <p:cNvSpPr/>
          <p:nvPr/>
        </p:nvSpPr>
        <p:spPr>
          <a:xfrm>
            <a:off x="3017520" y="3995928"/>
            <a:ext cx="1188720" cy="475488"/>
          </a:xfrm>
          <a:prstGeom prst="rect">
            <a:avLst/>
          </a:prstGeom>
          <a:solidFill>
            <a:srgbClr val="E59866"/>
          </a:solidFill>
          <a:ln w="12700">
            <a:solidFill>
              <a:srgbClr val="E59866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3017520" y="3995928"/>
            <a:ext cx="1188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-0.44</a:t>
            </a:r>
            <a:endParaRPr lang="en-US" sz="1100" dirty="0"/>
          </a:p>
        </p:txBody>
      </p:sp>
      <p:sp>
        <p:nvSpPr>
          <p:cNvPr id="93" name="Shape 91"/>
          <p:cNvSpPr/>
          <p:nvPr/>
        </p:nvSpPr>
        <p:spPr>
          <a:xfrm>
            <a:off x="4206240" y="3995928"/>
            <a:ext cx="1188720" cy="475488"/>
          </a:xfrm>
          <a:prstGeom prst="rect">
            <a:avLst/>
          </a:prstGeom>
          <a:solidFill>
            <a:srgbClr val="AED6F1"/>
          </a:solidFill>
          <a:ln w="12700">
            <a:solidFill>
              <a:srgbClr val="AED6F1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4206240" y="3995928"/>
            <a:ext cx="1188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0.15</a:t>
            </a:r>
            <a:endParaRPr lang="en-US" sz="1100" dirty="0"/>
          </a:p>
        </p:txBody>
      </p:sp>
      <p:sp>
        <p:nvSpPr>
          <p:cNvPr id="95" name="Shape 93"/>
          <p:cNvSpPr/>
          <p:nvPr/>
        </p:nvSpPr>
        <p:spPr>
          <a:xfrm>
            <a:off x="5394960" y="3995928"/>
            <a:ext cx="1188720" cy="475488"/>
          </a:xfrm>
          <a:prstGeom prst="rect">
            <a:avLst/>
          </a:prstGeom>
          <a:solidFill>
            <a:srgbClr val="AED6F1"/>
          </a:solidFill>
          <a:ln w="12700">
            <a:solidFill>
              <a:srgbClr val="AED6F1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5394960" y="3995928"/>
            <a:ext cx="1188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0.06</a:t>
            </a:r>
            <a:endParaRPr lang="en-US" sz="1100" dirty="0"/>
          </a:p>
        </p:txBody>
      </p:sp>
      <p:sp>
        <p:nvSpPr>
          <p:cNvPr id="97" name="Shape 95"/>
          <p:cNvSpPr/>
          <p:nvPr/>
        </p:nvSpPr>
        <p:spPr>
          <a:xfrm>
            <a:off x="6583680" y="3995928"/>
            <a:ext cx="1188720" cy="475488"/>
          </a:xfrm>
          <a:prstGeom prst="rect">
            <a:avLst/>
          </a:prstGeom>
          <a:solidFill>
            <a:srgbClr val="E59866"/>
          </a:solidFill>
          <a:ln w="12700">
            <a:solidFill>
              <a:srgbClr val="E59866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6583680" y="3995928"/>
            <a:ext cx="1188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-0.38</a:t>
            </a:r>
            <a:endParaRPr lang="en-US" sz="1100" dirty="0"/>
          </a:p>
        </p:txBody>
      </p:sp>
      <p:sp>
        <p:nvSpPr>
          <p:cNvPr id="99" name="Shape 97"/>
          <p:cNvSpPr/>
          <p:nvPr/>
        </p:nvSpPr>
        <p:spPr>
          <a:xfrm>
            <a:off x="7772400" y="3995928"/>
            <a:ext cx="1188720" cy="47548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7772400" y="3995928"/>
            <a:ext cx="1188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1100" dirty="0"/>
          </a:p>
        </p:txBody>
      </p:sp>
      <p:sp>
        <p:nvSpPr>
          <p:cNvPr id="101" name="Text 99"/>
          <p:cNvSpPr/>
          <p:nvPr/>
        </p:nvSpPr>
        <p:spPr>
          <a:xfrm>
            <a:off x="411480" y="4133088"/>
            <a:ext cx="8321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CORRELATIONS</a:t>
            </a:r>
            <a:endParaRPr lang="en-US" sz="900" dirty="0"/>
          </a:p>
        </p:txBody>
      </p:sp>
      <p:sp>
        <p:nvSpPr>
          <p:cNvPr id="102" name="Shape 100"/>
          <p:cNvSpPr/>
          <p:nvPr/>
        </p:nvSpPr>
        <p:spPr>
          <a:xfrm>
            <a:off x="411480" y="4370832"/>
            <a:ext cx="1993392" cy="594360"/>
          </a:xfrm>
          <a:prstGeom prst="rect">
            <a:avLst/>
          </a:prstGeom>
          <a:solidFill>
            <a:srgbClr val="E67E22">
              <a:alpha val="12000"/>
            </a:srgbClr>
          </a:solidFill>
          <a:ln w="12700">
            <a:solidFill>
              <a:srgbClr val="E67E22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3" name="Text 101"/>
          <p:cNvSpPr/>
          <p:nvPr/>
        </p:nvSpPr>
        <p:spPr>
          <a:xfrm>
            <a:off x="411480" y="4389120"/>
            <a:ext cx="19933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67E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–0.47</a:t>
            </a:r>
            <a:endParaRPr lang="en-US" sz="1400" dirty="0"/>
          </a:p>
        </p:txBody>
      </p:sp>
      <p:sp>
        <p:nvSpPr>
          <p:cNvPr id="104" name="Text 102"/>
          <p:cNvSpPr/>
          <p:nvPr/>
        </p:nvSpPr>
        <p:spPr>
          <a:xfrm>
            <a:off x="411480" y="4590288"/>
            <a:ext cx="19933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Subsidies ↔ GDP Growth</a:t>
            </a:r>
            <a:endParaRPr lang="en-US" sz="850" dirty="0"/>
          </a:p>
        </p:txBody>
      </p:sp>
      <p:sp>
        <p:nvSpPr>
          <p:cNvPr id="105" name="Shape 103"/>
          <p:cNvSpPr/>
          <p:nvPr/>
        </p:nvSpPr>
        <p:spPr>
          <a:xfrm>
            <a:off x="2514600" y="4370832"/>
            <a:ext cx="1993392" cy="594360"/>
          </a:xfrm>
          <a:prstGeom prst="rect">
            <a:avLst/>
          </a:prstGeom>
          <a:solidFill>
            <a:srgbClr val="27AE60">
              <a:alpha val="12000"/>
            </a:srgbClr>
          </a:solidFill>
          <a:ln w="12700">
            <a:solidFill>
              <a:srgbClr val="27AE60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6" name="Text 104"/>
          <p:cNvSpPr/>
          <p:nvPr/>
        </p:nvSpPr>
        <p:spPr>
          <a:xfrm>
            <a:off x="2514600" y="4389120"/>
            <a:ext cx="19933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7AE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+0.42</a:t>
            </a:r>
            <a:endParaRPr lang="en-US" sz="1400" dirty="0"/>
          </a:p>
        </p:txBody>
      </p:sp>
      <p:sp>
        <p:nvSpPr>
          <p:cNvPr id="107" name="Text 105"/>
          <p:cNvSpPr/>
          <p:nvPr/>
        </p:nvSpPr>
        <p:spPr>
          <a:xfrm>
            <a:off x="2514600" y="4590288"/>
            <a:ext cx="19933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GCF ↔ GDP Growth</a:t>
            </a:r>
            <a:endParaRPr lang="en-US" sz="850" dirty="0"/>
          </a:p>
        </p:txBody>
      </p:sp>
      <p:sp>
        <p:nvSpPr>
          <p:cNvPr id="108" name="Shape 106"/>
          <p:cNvSpPr/>
          <p:nvPr/>
        </p:nvSpPr>
        <p:spPr>
          <a:xfrm>
            <a:off x="4617720" y="4370832"/>
            <a:ext cx="1993392" cy="594360"/>
          </a:xfrm>
          <a:prstGeom prst="rect">
            <a:avLst/>
          </a:prstGeom>
          <a:solidFill>
            <a:srgbClr val="2E75B6">
              <a:alpha val="12000"/>
            </a:srgbClr>
          </a:solidFill>
          <a:ln w="12700">
            <a:solidFill>
              <a:srgbClr val="2E75B6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9" name="Text 107"/>
          <p:cNvSpPr/>
          <p:nvPr/>
        </p:nvSpPr>
        <p:spPr>
          <a:xfrm>
            <a:off x="4617720" y="4389120"/>
            <a:ext cx="19933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75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+0.35</a:t>
            </a:r>
            <a:endParaRPr lang="en-US" sz="1400" dirty="0"/>
          </a:p>
        </p:txBody>
      </p:sp>
      <p:sp>
        <p:nvSpPr>
          <p:cNvPr id="110" name="Text 108"/>
          <p:cNvSpPr/>
          <p:nvPr/>
        </p:nvSpPr>
        <p:spPr>
          <a:xfrm>
            <a:off x="4617720" y="4590288"/>
            <a:ext cx="19933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↔ GDP Growth</a:t>
            </a:r>
            <a:endParaRPr lang="en-US" sz="850" dirty="0"/>
          </a:p>
        </p:txBody>
      </p:sp>
      <p:sp>
        <p:nvSpPr>
          <p:cNvPr id="111" name="Shape 109"/>
          <p:cNvSpPr/>
          <p:nvPr/>
        </p:nvSpPr>
        <p:spPr>
          <a:xfrm>
            <a:off x="6720840" y="4370832"/>
            <a:ext cx="1993392" cy="594360"/>
          </a:xfrm>
          <a:prstGeom prst="rect">
            <a:avLst/>
          </a:prstGeom>
          <a:solidFill>
            <a:srgbClr val="C0392B">
              <a:alpha val="12000"/>
            </a:srgbClr>
          </a:solidFill>
          <a:ln w="12700">
            <a:solidFill>
              <a:srgbClr val="C0392B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12" name="Text 110"/>
          <p:cNvSpPr/>
          <p:nvPr/>
        </p:nvSpPr>
        <p:spPr>
          <a:xfrm>
            <a:off x="6720840" y="4389120"/>
            <a:ext cx="19933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–0.61</a:t>
            </a:r>
            <a:endParaRPr lang="en-US" sz="1400" dirty="0"/>
          </a:p>
        </p:txBody>
      </p:sp>
      <p:sp>
        <p:nvSpPr>
          <p:cNvPr id="113" name="Text 111"/>
          <p:cNvSpPr/>
          <p:nvPr/>
        </p:nvSpPr>
        <p:spPr>
          <a:xfrm>
            <a:off x="6720840" y="4590288"/>
            <a:ext cx="19933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Fiscal Def. ↔ GDP Growth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2926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0" tIns="10160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OLS  REGRESSION RESULTS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11480" y="530352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38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OLS Regression  |  DV: Real GDP Growth (%)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1051560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GDP_Growth = β₀ + β₁(Subsidies%GDP) + β₂(GCF%GDP) + β₃(Trade%GDP) + ε   |   n = 23, OLS via Excel LINEST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1371600"/>
            <a:ext cx="1737360" cy="3657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37160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148840" y="1371600"/>
            <a:ext cx="1051560" cy="3657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148840" y="1371600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Coefficient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00400" y="1371600"/>
            <a:ext cx="960120" cy="3657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0" y="1371600"/>
            <a:ext cx="960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 Error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160520" y="1371600"/>
            <a:ext cx="1051560" cy="3657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60520" y="1371600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t-Statistic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212080" y="1371600"/>
            <a:ext cx="1005840" cy="3657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12080" y="137160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Significance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217920" y="1371600"/>
            <a:ext cx="2331720" cy="3657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137160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11480" y="1737360"/>
            <a:ext cx="1737360" cy="457200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17373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Intercept (β₀)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148840" y="1737360"/>
            <a:ext cx="1051560" cy="457200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148840" y="173736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–8.42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200400" y="1737360"/>
            <a:ext cx="960120" cy="457200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0" y="173736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4.31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160520" y="1737360"/>
            <a:ext cx="1051560" cy="457200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60520" y="173736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–1.95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212080" y="1737360"/>
            <a:ext cx="1005840" cy="457200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12080" y="173736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0.066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217920" y="1737360"/>
            <a:ext cx="2331720" cy="457200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17920" y="17373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(not sig. at 5%)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11480" y="2231136"/>
            <a:ext cx="17373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1480" y="2231136"/>
            <a:ext cx="1737360" cy="457200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Subsidies % GDP (β₁)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2148840" y="2231136"/>
            <a:ext cx="10515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148840" y="2231136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–1.83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3200400" y="2231136"/>
            <a:ext cx="9601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00400" y="2231136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0.74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160520" y="2231136"/>
            <a:ext cx="10515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60520" y="2231136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–2.47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212080" y="2231136"/>
            <a:ext cx="10058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212080" y="2231136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&lt; 0.05 ✔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217920" y="2231136"/>
            <a:ext cx="23317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17920" y="2231136"/>
            <a:ext cx="2331720" cy="457200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Counter-cyclical effect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11480" y="2724912"/>
            <a:ext cx="1737360" cy="457200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11480" y="2724912"/>
            <a:ext cx="1737360" cy="457200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Cap. Form. (β₂)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2148840" y="2724912"/>
            <a:ext cx="1051560" cy="457200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148840" y="2724912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+0.51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3200400" y="2724912"/>
            <a:ext cx="960120" cy="457200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200400" y="2724912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0.16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4160520" y="2724912"/>
            <a:ext cx="1051560" cy="457200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160520" y="2724912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+3.19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5212080" y="2724912"/>
            <a:ext cx="1005840" cy="457200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212080" y="2724912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&lt; 0.01 ✔✔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6217920" y="2724912"/>
            <a:ext cx="2331720" cy="457200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217920" y="2724912"/>
            <a:ext cx="2331720" cy="457200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→ growth driver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411480" y="3218688"/>
            <a:ext cx="17373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11480" y="3218688"/>
            <a:ext cx="1737360" cy="457200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Openness (β₃)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2148840" y="3218688"/>
            <a:ext cx="10515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148840" y="3218688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+0.14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3200400" y="3218688"/>
            <a:ext cx="9601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200400" y="3218688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0.07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4160520" y="3218688"/>
            <a:ext cx="10515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160520" y="3218688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+2.00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5212080" y="3218688"/>
            <a:ext cx="10058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212080" y="3218688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&lt; 0.05 ✔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6217920" y="3218688"/>
            <a:ext cx="23317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217920" y="3218688"/>
            <a:ext cx="2331720" cy="457200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Openness supports growth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411480" y="3867912"/>
            <a:ext cx="1572768" cy="6858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6" name="Text 64"/>
          <p:cNvSpPr/>
          <p:nvPr/>
        </p:nvSpPr>
        <p:spPr>
          <a:xfrm>
            <a:off x="411480" y="3913632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67E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0.612</a:t>
            </a:r>
            <a:endParaRPr lang="en-US" sz="2000" dirty="0"/>
          </a:p>
        </p:txBody>
      </p:sp>
      <p:sp>
        <p:nvSpPr>
          <p:cNvPr id="67" name="Text 65"/>
          <p:cNvSpPr/>
          <p:nvPr/>
        </p:nvSpPr>
        <p:spPr>
          <a:xfrm>
            <a:off x="411480" y="4251960"/>
            <a:ext cx="1572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2103120" y="3867912"/>
            <a:ext cx="1572768" cy="6858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9" name="Text 67"/>
          <p:cNvSpPr/>
          <p:nvPr/>
        </p:nvSpPr>
        <p:spPr>
          <a:xfrm>
            <a:off x="2103120" y="3913632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67E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0.545</a:t>
            </a:r>
            <a:endParaRPr lang="en-US" sz="2000" dirty="0"/>
          </a:p>
        </p:txBody>
      </p:sp>
      <p:sp>
        <p:nvSpPr>
          <p:cNvPr id="70" name="Text 68"/>
          <p:cNvSpPr/>
          <p:nvPr/>
        </p:nvSpPr>
        <p:spPr>
          <a:xfrm>
            <a:off x="2103120" y="4251960"/>
            <a:ext cx="1572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 R²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3794760" y="3867912"/>
            <a:ext cx="1572768" cy="6858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72" name="Text 70"/>
          <p:cNvSpPr/>
          <p:nvPr/>
        </p:nvSpPr>
        <p:spPr>
          <a:xfrm>
            <a:off x="3794760" y="3913632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67E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9.13</a:t>
            </a:r>
            <a:endParaRPr lang="en-US" sz="2000" dirty="0"/>
          </a:p>
        </p:txBody>
      </p:sp>
      <p:sp>
        <p:nvSpPr>
          <p:cNvPr id="73" name="Text 71"/>
          <p:cNvSpPr/>
          <p:nvPr/>
        </p:nvSpPr>
        <p:spPr>
          <a:xfrm>
            <a:off x="3794760" y="4251960"/>
            <a:ext cx="1572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F-Stat</a:t>
            </a:r>
            <a:endParaRPr lang="en-US" sz="950" dirty="0"/>
          </a:p>
        </p:txBody>
      </p:sp>
      <p:sp>
        <p:nvSpPr>
          <p:cNvPr id="74" name="Shape 72"/>
          <p:cNvSpPr/>
          <p:nvPr/>
        </p:nvSpPr>
        <p:spPr>
          <a:xfrm>
            <a:off x="5486400" y="3867912"/>
            <a:ext cx="1572768" cy="6858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75" name="Text 73"/>
          <p:cNvSpPr/>
          <p:nvPr/>
        </p:nvSpPr>
        <p:spPr>
          <a:xfrm>
            <a:off x="5486400" y="3913632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67E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0.0006</a:t>
            </a:r>
            <a:endParaRPr lang="en-US" sz="2000" dirty="0"/>
          </a:p>
        </p:txBody>
      </p:sp>
      <p:sp>
        <p:nvSpPr>
          <p:cNvPr id="76" name="Text 74"/>
          <p:cNvSpPr/>
          <p:nvPr/>
        </p:nvSpPr>
        <p:spPr>
          <a:xfrm>
            <a:off x="5486400" y="4251960"/>
            <a:ext cx="1572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p(F)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7178040" y="3867912"/>
            <a:ext cx="1572768" cy="6858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78" name="Text 76"/>
          <p:cNvSpPr/>
          <p:nvPr/>
        </p:nvSpPr>
        <p:spPr>
          <a:xfrm>
            <a:off x="7178040" y="3913632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67E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1.78</a:t>
            </a:r>
            <a:endParaRPr lang="en-US" sz="2000" dirty="0"/>
          </a:p>
        </p:txBody>
      </p:sp>
      <p:sp>
        <p:nvSpPr>
          <p:cNvPr id="79" name="Text 77"/>
          <p:cNvSpPr/>
          <p:nvPr/>
        </p:nvSpPr>
        <p:spPr>
          <a:xfrm>
            <a:off x="7178040" y="4251960"/>
            <a:ext cx="1572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D-W</a:t>
            </a:r>
            <a:endParaRPr lang="en-US" sz="950" dirty="0"/>
          </a:p>
        </p:txBody>
      </p:sp>
      <p:sp>
        <p:nvSpPr>
          <p:cNvPr id="80" name="Text 78"/>
          <p:cNvSpPr/>
          <p:nvPr/>
        </p:nvSpPr>
        <p:spPr>
          <a:xfrm>
            <a:off x="411480" y="4663440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D-W ≈ 1.78 → no severe serial autocorrelation  |  Model explains 61% of variance in GDP growth  |  F-stat highly significant (p = 0.0006)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2926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0" tIns="10160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  OF  RESULTS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11480" y="530352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38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Do the Results Tell Us?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" y="1188720"/>
            <a:ext cx="4160520" cy="1719072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188720"/>
            <a:ext cx="475488" cy="171907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188720"/>
            <a:ext cx="475488" cy="1719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78408" y="1280160"/>
            <a:ext cx="3502152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Subsidies → Negative Coefficient (β₁ = –1.83, p &lt; 0.05)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978408" y="1664208"/>
            <a:ext cx="3502152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 percentage-point rise in subsidies/GDP is associated with –1.83pp lower GDP growth. But this does NOT mean subsidies cause lower growth. India raises subsidies DURING crises — the negative sign reflects timing, not causality.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11480" y="3063240"/>
            <a:ext cx="4160520" cy="1719072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11480" y="3063240"/>
            <a:ext cx="475488" cy="171907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3063240"/>
            <a:ext cx="475488" cy="1719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78408" y="3154680"/>
            <a:ext cx="3502152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Formation is the Dominant Growth Driver (β₂ = +0.51, p &lt; 0.01)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978408" y="3538728"/>
            <a:ext cx="3502152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1pp rise in GCF/GDP adds +0.51pp to growth. This is the strongest and most significant effect — investment-led growth dominates India's trajectory.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09160" y="1188720"/>
            <a:ext cx="4160520" cy="1719072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09160" y="1188720"/>
            <a:ext cx="475488" cy="171907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09160" y="1188720"/>
            <a:ext cx="475488" cy="1719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276088" y="1280160"/>
            <a:ext cx="3502152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Openness Supports Growth (β₃ = +0.14, p &lt; 0.05)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276088" y="1664208"/>
            <a:ext cx="3502152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trade integration contributes positively to growth. Industrial policy that complements export orientation is more effective than import substitution alone.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09160" y="3063240"/>
            <a:ext cx="4160520" cy="1719072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3063240"/>
            <a:ext cx="475488" cy="17190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9160" y="3063240"/>
            <a:ext cx="475488" cy="1719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276088" y="3154680"/>
            <a:ext cx="3502152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H₀ REJECTED — But the Story is Nuanced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276088" y="3538728"/>
            <a:ext cx="3502152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subsidies do significantly affect growth, but through a counter-cyclical mechanism. Effective 21st-century industrial policy requires SMART, targeted subsidies — not simply larger ones.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2926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0" tIns="10160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 IMPLICATIONS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11480" y="530352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38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Industrial Policy Implications for India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" y="1188720"/>
            <a:ext cx="265176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188720"/>
            <a:ext cx="2651760" cy="310896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188720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Subsidy Design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1554480"/>
            <a:ext cx="248716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from broad food/fuel subsidies → targeted, productivity-linked industrial subsidies (PLI schemes, R&amp;D incentives, green capex).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46120" y="1188720"/>
            <a:ext cx="265176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46120" y="1188720"/>
            <a:ext cx="2651760" cy="310896"/>
          </a:xfrm>
          <a:prstGeom prst="rect">
            <a:avLst/>
          </a:prstGeom>
          <a:solidFill>
            <a:srgbClr val="1A7A8A"/>
          </a:solidFill>
          <a:ln w="12700">
            <a:solidFill>
              <a:srgbClr val="1A7A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37560" y="1188720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Prioritise Capital Formation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337560" y="1554480"/>
            <a:ext cx="248716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GCF is the #1 growth driver. Policy should scale manufacturing capex and infrastructure through PPPs, DFIs, and National Infrastructure Pipeline.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080760" y="1188720"/>
            <a:ext cx="265176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80760" y="1188720"/>
            <a:ext cx="2651760" cy="310896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72200" y="1188720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 Trade Openness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172200" y="1554480"/>
            <a:ext cx="248716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policy must complement — not replace — export-oriented strategies. Combine import substitution with competitive domestic supply chains.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11480" y="3017520"/>
            <a:ext cx="265176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11480" y="3017520"/>
            <a:ext cx="2651760" cy="310896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017520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the PLI Model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02920" y="3383280"/>
            <a:ext cx="248716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Production-Linked Incentive scheme (2021) is best-practice: sector-specific, output-linked, time-bound. Expand to more sectors.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46120" y="3017520"/>
            <a:ext cx="265176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46120" y="3017520"/>
            <a:ext cx="2651760" cy="31089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37560" y="3017520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Counter-Cyclical Guardrails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337560" y="3383280"/>
            <a:ext cx="248716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automatic stabilisers so subsidy spending rises during downturns without becoming permanently embedded. Sunset clauses essential.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080760" y="3017520"/>
            <a:ext cx="265176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080760" y="3017520"/>
            <a:ext cx="2651760" cy="310896"/>
          </a:xfrm>
          <a:prstGeom prst="rect">
            <a:avLst/>
          </a:prstGeom>
          <a:solidFill>
            <a:srgbClr val="595959"/>
          </a:solidFill>
          <a:ln w="12700">
            <a:solidFill>
              <a:srgbClr val="59595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72200" y="3017520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Limitations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172200" y="3383280"/>
            <a:ext cx="248716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OLS assumes no endogeneity. Subsidies may be reverse-causal. Future work: IV/2SLS, VAR models, or difference-in-differences on PLI rollout.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0"/>
            <a:ext cx="91440" cy="51435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457200"/>
            <a:ext cx="2560320" cy="2560320"/>
          </a:xfrm>
          <a:prstGeom prst="ellipse">
            <a:avLst/>
          </a:prstGeom>
          <a:solidFill>
            <a:srgbClr val="2E75B6">
              <a:alpha val="20000"/>
            </a:srgbClr>
          </a:solidFill>
          <a:ln w="12700">
            <a:solidFill>
              <a:srgbClr val="2E75B6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60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777240"/>
            <a:ext cx="6858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Smart Subsidies,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Larger Ones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548640" y="1938528"/>
            <a:ext cx="5029200" cy="36576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066544"/>
            <a:ext cx="256032" cy="25603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06654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14400" y="2066544"/>
            <a:ext cx="6858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H₀ rejected — subsidies significantly affect GDP growth (p &lt; 0.05)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542032"/>
            <a:ext cx="256032" cy="25603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54203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914400" y="2542032"/>
            <a:ext cx="6858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β₁ reflects counter-cyclical deployment, not causality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017520"/>
            <a:ext cx="256032" cy="25603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01752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914400" y="3017520"/>
            <a:ext cx="6858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investment (GCF) is India's primary growth engine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493008"/>
            <a:ext cx="256032" cy="25603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49300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14400" y="3493008"/>
            <a:ext cx="6858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PLI-style targeted subsidies represent 21st-century best practice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3968496"/>
            <a:ext cx="256032" cy="25603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96849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914400" y="3968496"/>
            <a:ext cx="6858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research: IV/2SLS to address endogeneity concerns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F9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journey from broad subsidies to PLI-linked industrial policy is a textbook case of 21st-century industrial strategy evolution.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6357</TotalTime>
  <Words>1193</Words>
  <Application>Microsoft Office PowerPoint</Application>
  <PresentationFormat>On-screen Show (16:9)</PresentationFormat>
  <Paragraphs>234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Industrial Policy for the 21st Century – India</dc:title>
  <dc:subject>PptxGenJS Presentation</dc:subject>
  <dc:creator>PptxGenJS</dc:creator>
  <cp:lastModifiedBy>Shreyasi Sharma</cp:lastModifiedBy>
  <cp:revision>2</cp:revision>
  <dcterms:created xsi:type="dcterms:W3CDTF">2026-05-12T09:35:24Z</dcterms:created>
  <dcterms:modified xsi:type="dcterms:W3CDTF">2026-05-21T13:02:29Z</dcterms:modified>
</cp:coreProperties>
</file>